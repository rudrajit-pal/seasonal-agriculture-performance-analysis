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44" r:id="rId10"/>
    <p:sldId id="339" r:id="rId11"/>
    <p:sldId id="340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drajit-pal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83914"/>
            <a:ext cx="9473883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Name- Rudrajit Pal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 Future Institute of Engineering and Management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9827076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8"/>
            <a:ext cx="749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STU69ed15baa0e6f1777145274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696720"/>
            <a:ext cx="6045200" cy="504952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The problem is to analyse the given agricultural dataset and investigate seasonal differences in agricultural performance by identifying meaningful patterns, trends, relationships and variations within the available data.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869F7B-914F-E626-4AD1-D70EE5513B1F}"/>
              </a:ext>
            </a:extLst>
          </p:cNvPr>
          <p:cNvSpPr txBox="1"/>
          <p:nvPr/>
        </p:nvSpPr>
        <p:spPr>
          <a:xfrm>
            <a:off x="924560" y="1636210"/>
            <a:ext cx="581152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Seasonal variations can influence different aspects of agricultural activities and performance. Understanding seasonal patterns through data analytics can help stakeholders: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Understand variations in agricultural performance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Identify important seasonal trends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Compare performance across different periods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Understand changing environmental conditions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Examine differences in resource usage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Identify areas requiring further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3600" dirty="0"/>
              <a:t>Farmers.</a:t>
            </a:r>
          </a:p>
          <a:p>
            <a:pPr algn="just">
              <a:lnSpc>
                <a:spcPct val="100000"/>
              </a:lnSpc>
            </a:pPr>
            <a:r>
              <a:rPr lang="en-IN" sz="3600" dirty="0"/>
              <a:t>Agricultural planners.</a:t>
            </a:r>
          </a:p>
          <a:p>
            <a:pPr algn="just">
              <a:lnSpc>
                <a:spcPct val="100000"/>
              </a:lnSpc>
            </a:pPr>
            <a:r>
              <a:rPr lang="en-IN" sz="3600" dirty="0"/>
              <a:t>Agricultural stakeholders.</a:t>
            </a:r>
          </a:p>
          <a:p>
            <a:pPr algn="just">
              <a:lnSpc>
                <a:spcPct val="100000"/>
              </a:lnSpc>
            </a:pPr>
            <a:r>
              <a:rPr lang="en-IN" sz="3600" dirty="0"/>
              <a:t>Data analysts / researchers.</a:t>
            </a:r>
          </a:p>
          <a:p>
            <a:pPr algn="just">
              <a:lnSpc>
                <a:spcPct val="100000"/>
              </a:lnSpc>
            </a:pPr>
            <a:r>
              <a:rPr lang="en-IN" sz="3600" dirty="0"/>
              <a:t>Agricultural Businesses &amp; Market Analysts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09040" y="1432560"/>
            <a:ext cx="8422640" cy="5243448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IN" sz="2200" b="1" dirty="0"/>
              <a:t>Python</a:t>
            </a:r>
            <a:r>
              <a:rPr lang="en-IN" sz="2200" dirty="0"/>
              <a:t> – Data analysis and processing.</a:t>
            </a:r>
          </a:p>
          <a:p>
            <a:pPr lvl="1">
              <a:lnSpc>
                <a:spcPct val="100000"/>
              </a:lnSpc>
            </a:pPr>
            <a:r>
              <a:rPr lang="en-IN" sz="2200" b="1" dirty="0"/>
              <a:t>Pandas</a:t>
            </a:r>
            <a:r>
              <a:rPr lang="en-IN" sz="2200" dirty="0"/>
              <a:t> – Data cleaning and manipulation.</a:t>
            </a:r>
          </a:p>
          <a:p>
            <a:pPr lvl="1">
              <a:lnSpc>
                <a:spcPct val="100000"/>
              </a:lnSpc>
            </a:pPr>
            <a:r>
              <a:rPr lang="en-IN" sz="2200" b="1" dirty="0"/>
              <a:t>NumPy</a:t>
            </a:r>
            <a:r>
              <a:rPr lang="en-IN" sz="2200" dirty="0"/>
              <a:t> – Numerical operations.</a:t>
            </a:r>
          </a:p>
          <a:p>
            <a:pPr lvl="1">
              <a:lnSpc>
                <a:spcPct val="100000"/>
              </a:lnSpc>
            </a:pPr>
            <a:r>
              <a:rPr lang="en-IN" sz="2200" b="1" dirty="0"/>
              <a:t>Matplotlib</a:t>
            </a:r>
            <a:r>
              <a:rPr lang="en-IN" sz="2200" dirty="0"/>
              <a:t> – Data visualization.</a:t>
            </a:r>
          </a:p>
          <a:p>
            <a:pPr lvl="1">
              <a:lnSpc>
                <a:spcPct val="100000"/>
              </a:lnSpc>
            </a:pPr>
            <a:r>
              <a:rPr lang="en-IN" sz="2200" b="1" dirty="0"/>
              <a:t>Seaborn</a:t>
            </a:r>
            <a:r>
              <a:rPr lang="en-IN" sz="2200" dirty="0"/>
              <a:t> – Statistical visualizations</a:t>
            </a:r>
          </a:p>
          <a:p>
            <a:pPr lvl="1">
              <a:lnSpc>
                <a:spcPct val="100000"/>
              </a:lnSpc>
            </a:pPr>
            <a:r>
              <a:rPr lang="en-IN" sz="2200" b="1" dirty="0"/>
              <a:t>Google </a:t>
            </a:r>
            <a:r>
              <a:rPr lang="en-IN" sz="2200" b="1" dirty="0" err="1"/>
              <a:t>Colaboratory</a:t>
            </a:r>
            <a:r>
              <a:rPr lang="en-IN" sz="2200" dirty="0"/>
              <a:t> – Project development environment.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0140" y="5367130"/>
            <a:ext cx="7976340" cy="140226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Yield and Production show a strong positive correlation (</a:t>
            </a:r>
            <a:r>
              <a:rPr lang="en-IN" b="1" dirty="0"/>
              <a:t>0.88</a:t>
            </a:r>
            <a:r>
              <a:rPr lang="en-IN" dirty="0"/>
              <a:t>). </a:t>
            </a:r>
          </a:p>
          <a:p>
            <a:pPr lvl="0"/>
            <a:r>
              <a:rPr lang="en-IN" dirty="0"/>
              <a:t>Revenue and Profit have a strong positive correlation (</a:t>
            </a:r>
            <a:r>
              <a:rPr lang="en-IN" b="1" dirty="0"/>
              <a:t>0.89</a:t>
            </a:r>
            <a:r>
              <a:rPr lang="en-IN" dirty="0"/>
              <a:t>). </a:t>
            </a:r>
          </a:p>
          <a:p>
            <a:pPr lvl="0"/>
            <a:r>
              <a:rPr lang="en-IN" dirty="0"/>
              <a:t>Rainfall and Disease/Pest Risk show a positive correlation (</a:t>
            </a:r>
            <a:r>
              <a:rPr lang="en-IN" b="1" dirty="0"/>
              <a:t>0.62</a:t>
            </a:r>
            <a:r>
              <a:rPr lang="en-IN" dirty="0"/>
              <a:t>). </a:t>
            </a:r>
          </a:p>
          <a:p>
            <a:pPr lvl="0"/>
            <a:r>
              <a:rPr lang="en-IN" dirty="0"/>
              <a:t>Pesticide usage shows a negative correlation with Disease/Pest Risk (</a:t>
            </a:r>
            <a:r>
              <a:rPr lang="en-IN" b="1" dirty="0"/>
              <a:t>−0.47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E68F0-DD59-D753-FDA4-6CC842ACF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98339"/>
            <a:ext cx="8240499" cy="404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01FF2B-5471-5810-B2A0-895B5176E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7675563" cy="40927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2A9AC8-756E-3B21-ED4B-A6F47CEECBA9}"/>
              </a:ext>
            </a:extLst>
          </p:cNvPr>
          <p:cNvSpPr txBox="1"/>
          <p:nvPr/>
        </p:nvSpPr>
        <p:spPr>
          <a:xfrm>
            <a:off x="675957" y="5564081"/>
            <a:ext cx="7452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dirty="0"/>
              <a:t>Yield varies across rainfall levels and seasons. </a:t>
            </a:r>
          </a:p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dirty="0"/>
              <a:t>Kharif shows higher rainfall and several higher-yield observations. </a:t>
            </a:r>
          </a:p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dirty="0"/>
              <a:t>Rainfall alone does not determine yield.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37F1B5-D01A-22BB-36C6-9BC032547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65376"/>
            <a:ext cx="8305484" cy="39901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F567B5-A862-81B4-A39F-378C66E15A15}"/>
              </a:ext>
            </a:extLst>
          </p:cNvPr>
          <p:cNvSpPr txBox="1"/>
          <p:nvPr/>
        </p:nvSpPr>
        <p:spPr>
          <a:xfrm>
            <a:off x="675956" y="5548590"/>
            <a:ext cx="8061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dirty="0"/>
              <a:t>Water usage is highest in </a:t>
            </a:r>
            <a:r>
              <a:rPr lang="en-IN" b="1" dirty="0"/>
              <a:t>Kharif</a:t>
            </a:r>
            <a:r>
              <a:rPr lang="en-IN" dirty="0"/>
              <a:t>. </a:t>
            </a:r>
          </a:p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b="1" dirty="0"/>
              <a:t>Zaid</a:t>
            </a:r>
            <a:r>
              <a:rPr lang="en-IN" dirty="0"/>
              <a:t> uses slightly more water than Rabi. </a:t>
            </a:r>
          </a:p>
          <a:p>
            <a:pPr marL="285750" lvl="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dirty="0"/>
              <a:t>Fertilizer and pesticide usage are relatively similar across seasons.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4204" y="5445618"/>
            <a:ext cx="6934756" cy="1122822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Kharif</a:t>
            </a:r>
            <a:r>
              <a:rPr lang="en-IN" dirty="0"/>
              <a:t> has the highest rainfall and humidity. </a:t>
            </a:r>
          </a:p>
          <a:p>
            <a:pPr lvl="0"/>
            <a:r>
              <a:rPr lang="en-IN" b="1" dirty="0"/>
              <a:t>Zaid</a:t>
            </a:r>
            <a:r>
              <a:rPr lang="en-IN" dirty="0"/>
              <a:t> has the highest temperature and sunlight. </a:t>
            </a:r>
          </a:p>
          <a:p>
            <a:pPr lvl="0"/>
            <a:r>
              <a:rPr lang="en-IN" dirty="0"/>
              <a:t>Environmental conditions vary clearly across seasons.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D1C343-BADA-69FB-5488-E09C95FE7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778" y="1201586"/>
            <a:ext cx="5628536" cy="407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5352" y="5582629"/>
            <a:ext cx="7802087" cy="1005839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b="1" dirty="0"/>
              <a:t>Flood irrigation</a:t>
            </a:r>
            <a:r>
              <a:rPr lang="en-IN" dirty="0"/>
              <a:t> is the most common method (32.8%). </a:t>
            </a:r>
          </a:p>
          <a:p>
            <a:pPr lvl="0"/>
            <a:r>
              <a:rPr lang="en-IN" b="1" dirty="0"/>
              <a:t>Rainfed</a:t>
            </a:r>
            <a:r>
              <a:rPr lang="en-IN" dirty="0"/>
              <a:t> farming accounts for 26.0%. </a:t>
            </a:r>
          </a:p>
          <a:p>
            <a:pPr lvl="0"/>
            <a:r>
              <a:rPr lang="en-IN" b="1" dirty="0"/>
              <a:t>Drip</a:t>
            </a:r>
            <a:r>
              <a:rPr lang="en-IN" dirty="0"/>
              <a:t> and </a:t>
            </a:r>
            <a:r>
              <a:rPr lang="en-IN" b="1" dirty="0"/>
              <a:t>Sprinkler</a:t>
            </a:r>
            <a:r>
              <a:rPr lang="en-IN" dirty="0"/>
              <a:t> account for 22.9% and 18.4%, respectively.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D3DE3-A55C-130E-3E0E-A4A4B6403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778" y="1275371"/>
            <a:ext cx="5017638" cy="418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07D7B-A6AD-ACB6-8298-54B543965F5C}"/>
              </a:ext>
            </a:extLst>
          </p:cNvPr>
          <p:cNvSpPr txBox="1"/>
          <p:nvPr/>
        </p:nvSpPr>
        <p:spPr>
          <a:xfrm>
            <a:off x="675957" y="1941449"/>
            <a:ext cx="631412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Analyse long-term seasonal trends using historical agricultural data.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Develop predictive models for crop yield and profitability.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Improve water and resource management using data-driven insights.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Extend analysis to more regions, crops and environmental factors.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200" dirty="0"/>
              <a:t>Build a decision-support system for better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DF5A9CC5-1D4B-2DC3-7C38-10896A887C3A}"/>
              </a:ext>
            </a:extLst>
          </p:cNvPr>
          <p:cNvSpPr txBox="1"/>
          <p:nvPr/>
        </p:nvSpPr>
        <p:spPr>
          <a:xfrm>
            <a:off x="675956" y="2614665"/>
            <a:ext cx="8965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https://github.com/rudrajit-pal/Seasonal-Agriculture-Performance-Analysis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4C8C3-3D8F-59A8-0C48-4E2251A47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2247821"/>
            <a:ext cx="7705741" cy="382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70303" y="2456566"/>
            <a:ext cx="6290907" cy="1959925"/>
          </a:xfrm>
        </p:spPr>
        <p:txBody>
          <a:bodyPr>
            <a:noAutofit/>
          </a:bodyPr>
          <a:lstStyle/>
          <a:p>
            <a:r>
              <a:rPr lang="en-IN" sz="2200" dirty="0"/>
              <a:t>Seasonal insights for smarter and more sustainable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VOIS_Major_Project_PPT_Submission_Template</Template>
  <TotalTime>6</TotalTime>
  <Words>474</Words>
  <Application>Microsoft Office PowerPoint</Application>
  <PresentationFormat>Widescreen</PresentationFormat>
  <Paragraphs>64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Rudrajit Pal</dc:creator>
  <cp:lastModifiedBy>Rudrajit Pal</cp:lastModifiedBy>
  <cp:revision>2</cp:revision>
  <dcterms:created xsi:type="dcterms:W3CDTF">2026-09-08T21:37:26Z</dcterms:created>
  <dcterms:modified xsi:type="dcterms:W3CDTF">2026-09-08T22:08:20Z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